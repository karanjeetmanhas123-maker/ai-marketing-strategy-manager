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5F7FF"/>
                </a:solidFill>
              </a:defRPr>
            </a:pPr>
            <a:r>
              <a:t>AI Marketing Strategy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6420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8BFD7"/>
                </a:solidFill>
              </a:defRPr>
            </a:pPr>
            <a:r>
              <a:t>Multi-Agent Marketing Strategy Platform using OpenAI Agents SDK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0632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7FF"/>
                </a:solidFill>
              </a:defRPr>
            </a:pPr>
            <a:r>
              <a:t>Python  |  OpenAI Agents SDK  |  Gradio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754880"/>
            <a:ext cx="1645920" cy="685800"/>
          </a:xfrm>
          <a:prstGeom prst="roundRect">
            <a:avLst/>
          </a:prstGeom>
          <a:solidFill>
            <a:srgbClr val="4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4837176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7FF"/>
                </a:solidFill>
              </a:defRPr>
            </a:pPr>
            <a:r>
              <a:t>Business Input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31720" y="5102352"/>
            <a:ext cx="640080" cy="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71800" y="4754880"/>
            <a:ext cx="1645920" cy="68580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6664" y="4837176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7FF"/>
                </a:solidFill>
              </a:defRPr>
            </a:pPr>
            <a:r>
              <a:t>AI Agents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17720" y="5102352"/>
            <a:ext cx="640080" cy="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57800" y="4754880"/>
            <a:ext cx="1645920" cy="685800"/>
          </a:xfrm>
          <a:prstGeom prst="roundRect">
            <a:avLst/>
          </a:prstGeom>
          <a:solidFill>
            <a:srgbClr val="4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12664" y="4837176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7FF"/>
                </a:solidFill>
              </a:defRPr>
            </a:pPr>
            <a:r>
              <a:t>Marketing Strategy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03720" y="5102352"/>
            <a:ext cx="640080" cy="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43800" y="4754880"/>
            <a:ext cx="1645920" cy="68580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98664" y="4837176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7FF"/>
                </a:solidFill>
              </a:defRPr>
            </a:pPr>
            <a:r>
              <a:t>Human Approval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89720" y="5102352"/>
            <a:ext cx="640080" cy="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829800" y="4754880"/>
            <a:ext cx="1645920" cy="685800"/>
          </a:xfrm>
          <a:prstGeom prst="roundRect">
            <a:avLst/>
          </a:prstGeom>
          <a:solidFill>
            <a:srgbClr val="4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84664" y="4837176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7FF"/>
                </a:solidFill>
              </a:defRPr>
            </a:pPr>
            <a:r>
              <a:t>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F"/>
                </a:solidFill>
              </a:defRPr>
            </a:pPr>
            <a:r>
              <a:t>Problem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8BFD7"/>
                </a:solidFill>
              </a:defRPr>
            </a:pPr>
            <a:r>
              <a:t>Business context and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394960" cy="4480560"/>
          </a:xfrm>
          <a:prstGeom prst="roundRect">
            <a:avLst/>
          </a:prstGeom>
          <a:solidFill>
            <a:srgbClr val="1F2444"/>
          </a:solidFill>
          <a:ln>
            <a:solidFill>
              <a:srgbClr val="363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1325880"/>
            <a:ext cx="5486400" cy="4480560"/>
          </a:xfrm>
          <a:prstGeom prst="roundRect">
            <a:avLst/>
          </a:prstGeom>
          <a:solidFill>
            <a:srgbClr val="1F2444"/>
          </a:solidFill>
          <a:ln>
            <a:solidFill>
              <a:srgbClr val="363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7FF"/>
                </a:solidFill>
              </a:defRPr>
            </a:pPr>
            <a:r>
              <a:t>Modern marketing requires: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5F7FF"/>
                </a:solidFill>
              </a:defRPr>
            </a:pPr>
            <a:r>
              <a:t>• Market research</a:t>
            </a:r>
          </a:p>
          <a:p>
            <a:pPr>
              <a:spcAft>
                <a:spcPts val="700"/>
              </a:spcAft>
              <a:defRPr sz="1400">
                <a:solidFill>
                  <a:srgbClr val="F5F7FF"/>
                </a:solidFill>
              </a:defRPr>
            </a:pPr>
            <a:r>
              <a:t>• Competitor analysis</a:t>
            </a:r>
          </a:p>
          <a:p>
            <a:pPr>
              <a:spcAft>
                <a:spcPts val="700"/>
              </a:spcAft>
              <a:defRPr sz="1400">
                <a:solidFill>
                  <a:srgbClr val="F5F7FF"/>
                </a:solidFill>
              </a:defRPr>
            </a:pPr>
            <a:r>
              <a:t>• Campaign planning</a:t>
            </a:r>
          </a:p>
          <a:p>
            <a:pPr>
              <a:spcAft>
                <a:spcPts val="700"/>
              </a:spcAft>
              <a:defRPr sz="1400">
                <a:solidFill>
                  <a:srgbClr val="F5F7FF"/>
                </a:solidFill>
              </a:defRPr>
            </a:pPr>
            <a:r>
              <a:t>• Content strategy</a:t>
            </a:r>
          </a:p>
          <a:p>
            <a:pPr>
              <a:spcAft>
                <a:spcPts val="700"/>
              </a:spcAft>
              <a:defRPr sz="1400">
                <a:solidFill>
                  <a:srgbClr val="F5F7FF"/>
                </a:solidFill>
              </a:defRPr>
            </a:pPr>
            <a:r>
              <a:t>• Marketing optimization</a:t>
            </a:r>
          </a:p>
          <a:p>
            <a:pPr>
              <a:spcAft>
                <a:spcPts val="700"/>
              </a:spcAft>
              <a:defRPr sz="1400">
                <a:solidFill>
                  <a:srgbClr val="F5F7FF"/>
                </a:solidFill>
              </a:defRPr>
            </a:pPr>
            <a:r>
              <a:t>• Campaign performance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7FF"/>
                </a:solidFill>
              </a:defRPr>
            </a:pPr>
            <a:r>
              <a:t>Why a multi-agent system?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FD7"/>
                </a:solidFill>
              </a:defRPr>
            </a:pPr>
            <a:r>
              <a:t>Managing these tasks separately requires time, coordination, and specialized marketing expertise.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2461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8BFD7"/>
                </a:solidFill>
              </a:defRPr>
            </a:pPr>
            <a:r>
              <a:t>Traditional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3703320"/>
            <a:ext cx="1417320" cy="594360"/>
          </a:xfrm>
          <a:prstGeom prst="roundRect">
            <a:avLst/>
          </a:prstGeom>
          <a:solidFill>
            <a:srgbClr val="4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3" y="3785615"/>
            <a:ext cx="1307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Manual Tasks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0" y="4005072"/>
            <a:ext cx="365760" cy="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0" y="3703320"/>
            <a:ext cx="1417320" cy="594360"/>
          </a:xfrm>
          <a:prstGeom prst="roundRect">
            <a:avLst/>
          </a:prstGeom>
          <a:solidFill>
            <a:srgbClr val="4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3785615"/>
            <a:ext cx="1307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Separate Analysis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46920" y="4005072"/>
            <a:ext cx="365760" cy="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12680" y="3703320"/>
            <a:ext cx="1417320" cy="594360"/>
          </a:xfrm>
          <a:prstGeom prst="roundRect">
            <a:avLst/>
          </a:prstGeom>
          <a:solidFill>
            <a:srgbClr val="4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67544" y="3785615"/>
            <a:ext cx="1307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Manual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572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8BFD7"/>
                </a:solidFill>
              </a:defRPr>
            </a:pPr>
            <a:r>
              <a:t>AI-based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4983480"/>
            <a:ext cx="1417320" cy="59436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1383" y="5065776"/>
            <a:ext cx="1307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Business Input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63840" y="5285232"/>
            <a:ext cx="365760" cy="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229600" y="4983480"/>
            <a:ext cx="1417320" cy="59436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4" y="5065776"/>
            <a:ext cx="1307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AI Agents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46920" y="5285232"/>
            <a:ext cx="365760" cy="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012680" y="4983480"/>
            <a:ext cx="1417320" cy="59436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67544" y="5065776"/>
            <a:ext cx="1307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Unified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F"/>
                </a:solidFill>
              </a:defRPr>
            </a:pPr>
            <a:r>
              <a:t>Stakeholders &amp; Project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5212080" cy="4800600"/>
          </a:xfrm>
          <a:prstGeom prst="roundRect">
            <a:avLst/>
          </a:prstGeom>
          <a:solidFill>
            <a:srgbClr val="1F2444"/>
          </a:solidFill>
          <a:ln>
            <a:solidFill>
              <a:srgbClr val="363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80760" y="1325880"/>
            <a:ext cx="5532120" cy="4800600"/>
          </a:xfrm>
          <a:prstGeom prst="roundRect">
            <a:avLst/>
          </a:prstGeom>
          <a:solidFill>
            <a:srgbClr val="1F2444"/>
          </a:solidFill>
          <a:ln>
            <a:solidFill>
              <a:srgbClr val="363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5F7FF"/>
                </a:solidFill>
              </a:defRPr>
            </a:pPr>
            <a:r>
              <a:t>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7FF"/>
                </a:solidFill>
              </a:defRPr>
            </a:pPr>
            <a:r>
              <a:t>• Business owners</a:t>
            </a:r>
          </a:p>
          <a:p>
            <a:pPr>
              <a:spcAft>
                <a:spcPts val="700"/>
              </a:spcAft>
              <a:defRPr sz="1500">
                <a:solidFill>
                  <a:srgbClr val="F5F7FF"/>
                </a:solidFill>
              </a:defRPr>
            </a:pPr>
            <a:r>
              <a:t>• Marketing managers</a:t>
            </a:r>
          </a:p>
          <a:p>
            <a:pPr>
              <a:spcAft>
                <a:spcPts val="700"/>
              </a:spcAft>
              <a:defRPr sz="1500">
                <a:solidFill>
                  <a:srgbClr val="F5F7FF"/>
                </a:solidFill>
              </a:defRPr>
            </a:pPr>
            <a:r>
              <a:t>• Marketing teams</a:t>
            </a:r>
          </a:p>
          <a:p>
            <a:pPr>
              <a:spcAft>
                <a:spcPts val="700"/>
              </a:spcAft>
              <a:defRPr sz="1500">
                <a:solidFill>
                  <a:srgbClr val="F5F7FF"/>
                </a:solidFill>
              </a:defRPr>
            </a:pPr>
            <a:r>
              <a:t>• Campaign managers</a:t>
            </a:r>
          </a:p>
          <a:p>
            <a:pPr>
              <a:spcAft>
                <a:spcPts val="700"/>
              </a:spcAft>
              <a:defRPr sz="1500">
                <a:solidFill>
                  <a:srgbClr val="F5F7FF"/>
                </a:solidFill>
              </a:defRPr>
            </a:pPr>
            <a:r>
              <a:t>• Content teams</a:t>
            </a:r>
          </a:p>
          <a:p>
            <a:pPr>
              <a:spcAft>
                <a:spcPts val="700"/>
              </a:spcAft>
              <a:defRPr sz="1500">
                <a:solidFill>
                  <a:srgbClr val="F5F7FF"/>
                </a:solidFill>
              </a:defRPr>
            </a:pPr>
            <a:r>
              <a:t>• Decision makers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627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5F7FF"/>
                </a:solidFill>
              </a:defRPr>
            </a:pPr>
            <a: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5F7FF"/>
                </a:solidFill>
              </a:defRPr>
            </a:pPr>
            <a:r>
              <a:t>• Automate major marketing strategy tasks</a:t>
            </a:r>
          </a:p>
          <a:p>
            <a:pPr>
              <a:spcAft>
                <a:spcPts val="700"/>
              </a:spcAft>
              <a:defRPr sz="1400">
                <a:solidFill>
                  <a:srgbClr val="F5F7FF"/>
                </a:solidFill>
              </a:defRPr>
            </a:pPr>
            <a:r>
              <a:t>• Use specialized AI agents</a:t>
            </a:r>
          </a:p>
          <a:p>
            <a:pPr>
              <a:spcAft>
                <a:spcPts val="700"/>
              </a:spcAft>
              <a:defRPr sz="1400">
                <a:solidFill>
                  <a:srgbClr val="F5F7FF"/>
                </a:solidFill>
              </a:defRPr>
            </a:pPr>
            <a:r>
              <a:t>• Coordinate outputs between workflow stages</a:t>
            </a:r>
          </a:p>
          <a:p>
            <a:pPr>
              <a:spcAft>
                <a:spcPts val="700"/>
              </a:spcAft>
              <a:defRPr sz="1400">
                <a:solidFill>
                  <a:srgbClr val="F5F7FF"/>
                </a:solidFill>
              </a:defRPr>
            </a:pPr>
            <a:r>
              <a:t>• Generate structured marketing strategies</a:t>
            </a:r>
          </a:p>
          <a:p>
            <a:pPr>
              <a:spcAft>
                <a:spcPts val="700"/>
              </a:spcAft>
              <a:defRPr sz="1400">
                <a:solidFill>
                  <a:srgbClr val="F5F7FF"/>
                </a:solidFill>
              </a:defRPr>
            </a:pPr>
            <a:r>
              <a:t>• Maintain business context</a:t>
            </a:r>
          </a:p>
          <a:p>
            <a:pPr>
              <a:spcAft>
                <a:spcPts val="700"/>
              </a:spcAft>
              <a:defRPr sz="1400">
                <a:solidFill>
                  <a:srgbClr val="F5F7FF"/>
                </a:solidFill>
              </a:defRPr>
            </a:pPr>
            <a:r>
              <a:t>• Analyze campaign performance</a:t>
            </a:r>
          </a:p>
          <a:p>
            <a:pPr>
              <a:spcAft>
                <a:spcPts val="700"/>
              </a:spcAft>
              <a:defRPr sz="1400">
                <a:solidFill>
                  <a:srgbClr val="F5F7FF"/>
                </a:solidFill>
              </a:defRPr>
            </a:pPr>
            <a:r>
              <a:t>• Keep human approval before saving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F"/>
                </a:solidFill>
              </a:defRPr>
            </a:pPr>
            <a:r>
              <a:t>Multi-Agent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234440"/>
            <a:ext cx="2148840" cy="502920"/>
          </a:xfrm>
          <a:prstGeom prst="roundRect">
            <a:avLst/>
          </a:prstGeom>
          <a:solidFill>
            <a:srgbClr val="4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1316736"/>
            <a:ext cx="2039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USER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93391" y="1737360"/>
            <a:ext cx="0" cy="256032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2011680"/>
            <a:ext cx="2148840" cy="502920"/>
          </a:xfrm>
          <a:prstGeom prst="roundRect">
            <a:avLst/>
          </a:prstGeom>
          <a:solidFill>
            <a:srgbClr val="4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093976"/>
            <a:ext cx="2039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Gradio Interface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93391" y="2514600"/>
            <a:ext cx="0" cy="256032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2788920"/>
            <a:ext cx="2148840" cy="502920"/>
          </a:xfrm>
          <a:prstGeom prst="roundRect">
            <a:avLst/>
          </a:prstGeom>
          <a:solidFill>
            <a:srgbClr val="4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871215"/>
            <a:ext cx="2039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Marketing Workflow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93391" y="3291839"/>
            <a:ext cx="0" cy="256033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" y="3566160"/>
            <a:ext cx="2148840" cy="50292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648456"/>
            <a:ext cx="2039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Market Research Agent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93391" y="4069080"/>
            <a:ext cx="0" cy="256032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" y="4343400"/>
            <a:ext cx="2148840" cy="50292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4425696"/>
            <a:ext cx="2039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Competitor Analysis Agent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93391" y="4846320"/>
            <a:ext cx="0" cy="256032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" y="5120640"/>
            <a:ext cx="2148840" cy="50292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5202936"/>
            <a:ext cx="2039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Campaign Planner 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1234440"/>
            <a:ext cx="2148840" cy="50292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95344" y="1316736"/>
            <a:ext cx="2039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Content Strategist Agent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19472" y="1737360"/>
            <a:ext cx="0" cy="256032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840480" y="2011680"/>
            <a:ext cx="2148840" cy="50292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95344" y="2093976"/>
            <a:ext cx="2039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Optimization Advisor Agent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19472" y="2514600"/>
            <a:ext cx="0" cy="256032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40480" y="2788920"/>
            <a:ext cx="2148840" cy="50292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95344" y="2871215"/>
            <a:ext cx="2039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Marketing Manager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919472" y="3291839"/>
            <a:ext cx="0" cy="256033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840480" y="3566160"/>
            <a:ext cx="2148840" cy="50292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95344" y="3648456"/>
            <a:ext cx="2039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Final Strategy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919472" y="4069080"/>
            <a:ext cx="0" cy="256032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840480" y="4343400"/>
            <a:ext cx="2148840" cy="50292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95344" y="4425696"/>
            <a:ext cx="2039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Human Approval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919472" y="4846320"/>
            <a:ext cx="0" cy="256032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840480" y="5120640"/>
            <a:ext cx="2148840" cy="50292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95344" y="5202936"/>
            <a:ext cx="2039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Saved Report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1993392" y="1481328"/>
            <a:ext cx="1847088" cy="4142232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583680" y="1325880"/>
            <a:ext cx="4937760" cy="2103120"/>
          </a:xfrm>
          <a:prstGeom prst="roundRect">
            <a:avLst/>
          </a:prstGeom>
          <a:solidFill>
            <a:srgbClr val="1F2444"/>
          </a:solidFill>
          <a:ln>
            <a:solidFill>
              <a:srgbClr val="363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16002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7FF"/>
                </a:solidFill>
              </a:defRPr>
            </a:pPr>
            <a:r>
              <a:t>Analytics Flow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2148840"/>
            <a:ext cx="1325880" cy="594360"/>
          </a:xfrm>
          <a:prstGeom prst="roundRect">
            <a:avLst/>
          </a:prstGeom>
          <a:solidFill>
            <a:srgbClr val="4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58583" y="2231136"/>
            <a:ext cx="1216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Campaign Data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229600" y="2450592"/>
            <a:ext cx="320040" cy="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549640" y="2148840"/>
            <a:ext cx="1234440" cy="59436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04504" y="2231136"/>
            <a:ext cx="1124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Analytics Agent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784080" y="2450592"/>
            <a:ext cx="320040" cy="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0104120" y="2148840"/>
            <a:ext cx="1143000" cy="594360"/>
          </a:xfrm>
          <a:prstGeom prst="roundRect">
            <a:avLst/>
          </a:prstGeom>
          <a:solidFill>
            <a:srgbClr val="4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58984" y="2231136"/>
            <a:ext cx="10332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Report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0" y="3703320"/>
            <a:ext cx="4937760" cy="2011680"/>
          </a:xfrm>
          <a:prstGeom prst="roundRect">
            <a:avLst/>
          </a:prstGeom>
          <a:solidFill>
            <a:srgbClr val="1F2444"/>
          </a:solidFill>
          <a:ln>
            <a:solidFill>
              <a:srgbClr val="363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397763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7FF"/>
                </a:solidFill>
              </a:defRPr>
            </a:pPr>
            <a:r>
              <a:t>Supporting Components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0" y="4526280"/>
            <a:ext cx="1325880" cy="384048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0" y="457200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research.py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39328" y="4526280"/>
            <a:ext cx="1325880" cy="384048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39328" y="457200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budget.py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20656" y="4526280"/>
            <a:ext cx="1325880" cy="384048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20656" y="457200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memory.py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58000" y="5056632"/>
            <a:ext cx="1325880" cy="384048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0" y="510235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report.py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339328" y="5056632"/>
            <a:ext cx="1325880" cy="384048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39328" y="510235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analytics.py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820656" y="5056632"/>
            <a:ext cx="1325880" cy="384048"/>
          </a:xfrm>
          <a:prstGeom prst="roundRect">
            <a:avLst/>
          </a:prstGeom>
          <a:solidFill>
            <a:srgbClr val="4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20656" y="510235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memory.json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F"/>
                </a:solidFill>
              </a:defRPr>
            </a:pPr>
            <a:r>
              <a:t>Specialized AI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8BFD7"/>
                </a:solidFill>
              </a:defRPr>
            </a:pPr>
            <a:r>
              <a:t>Focused roles for each marketing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063240" cy="1325880"/>
          </a:xfrm>
          <a:prstGeom prst="roundRect">
            <a:avLst/>
          </a:prstGeom>
          <a:solidFill>
            <a:srgbClr val="1F2444"/>
          </a:solidFill>
          <a:ln>
            <a:solidFill>
              <a:srgbClr val="363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5819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7FF"/>
                </a:solidFill>
              </a:defRPr>
            </a:pPr>
            <a:r>
              <a:t>Market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84248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8BFD7"/>
                </a:solidFill>
              </a:defRPr>
            </a:pPr>
            <a:r>
              <a:t>Target market, needs, trends, opportunities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417320"/>
            <a:ext cx="3063240" cy="1325880"/>
          </a:xfrm>
          <a:prstGeom prst="roundRect">
            <a:avLst/>
          </a:prstGeom>
          <a:solidFill>
            <a:srgbClr val="1F2444"/>
          </a:solidFill>
          <a:ln>
            <a:solidFill>
              <a:srgbClr val="363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61688" y="15819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7FF"/>
                </a:solidFill>
              </a:defRPr>
            </a:pPr>
            <a:r>
              <a:t>Competitor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1688" y="1984248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8BFD7"/>
                </a:solidFill>
              </a:defRPr>
            </a:pPr>
            <a:r>
              <a:t>Competitors, strengths, weaknesses, positioning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417320"/>
            <a:ext cx="3063240" cy="1325880"/>
          </a:xfrm>
          <a:prstGeom prst="roundRect">
            <a:avLst/>
          </a:prstGeom>
          <a:solidFill>
            <a:srgbClr val="1F2444"/>
          </a:solidFill>
          <a:ln>
            <a:solidFill>
              <a:srgbClr val="363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15819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7FF"/>
                </a:solidFill>
              </a:defRPr>
            </a:pPr>
            <a:r>
              <a:t>Campaign 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1984248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8BFD7"/>
                </a:solidFill>
              </a:defRPr>
            </a:pPr>
            <a:r>
              <a:t>Objectives, channels, budget, KPIs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54680"/>
            <a:ext cx="3063240" cy="1325880"/>
          </a:xfrm>
          <a:prstGeom prst="roundRect">
            <a:avLst/>
          </a:prstGeom>
          <a:solidFill>
            <a:srgbClr val="1F2444"/>
          </a:solidFill>
          <a:ln>
            <a:solidFill>
              <a:srgbClr val="363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3192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7FF"/>
                </a:solidFill>
              </a:defRPr>
            </a:pPr>
            <a:r>
              <a:t>Content Strategist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721608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8BFD7"/>
                </a:solidFill>
              </a:defRPr>
            </a:pPr>
            <a:r>
              <a:t>Content ideas, messaging, channel strategy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3154680"/>
            <a:ext cx="3063240" cy="1325880"/>
          </a:xfrm>
          <a:prstGeom prst="roundRect">
            <a:avLst/>
          </a:prstGeom>
          <a:solidFill>
            <a:srgbClr val="1F2444"/>
          </a:solidFill>
          <a:ln>
            <a:solidFill>
              <a:srgbClr val="363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33192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7FF"/>
                </a:solidFill>
              </a:defRPr>
            </a:pPr>
            <a:r>
              <a:t>Optimization Advisor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3721608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8BFD7"/>
                </a:solidFill>
              </a:defRPr>
            </a:pPr>
            <a:r>
              <a:t>Reviews strategy and recommends improvements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154680"/>
            <a:ext cx="3063240" cy="1325880"/>
          </a:xfrm>
          <a:prstGeom prst="roundRect">
            <a:avLst/>
          </a:prstGeom>
          <a:solidFill>
            <a:srgbClr val="1F2444"/>
          </a:solidFill>
          <a:ln>
            <a:solidFill>
              <a:srgbClr val="363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73568" y="33192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7FF"/>
                </a:solidFill>
              </a:defRPr>
            </a:pPr>
            <a:r>
              <a:t>Analytics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3721608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8BFD7"/>
                </a:solidFill>
              </a:defRPr>
            </a:pPr>
            <a:r>
              <a:t>Campaign performance data and recommendations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4892040"/>
            <a:ext cx="3063240" cy="1325880"/>
          </a:xfrm>
          <a:prstGeom prst="roundRect">
            <a:avLst/>
          </a:prstGeom>
          <a:solidFill>
            <a:srgbClr val="1F2444"/>
          </a:solidFill>
          <a:ln>
            <a:solidFill>
              <a:srgbClr val="363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1688" y="5056631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7FF"/>
                </a:solidFill>
              </a:defRPr>
            </a:pPr>
            <a:r>
              <a:t>Marketing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5458968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8BFD7"/>
                </a:solidFill>
              </a:defRPr>
            </a:pPr>
            <a:r>
              <a:t>Combines specialist outputs into final strategy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F"/>
                </a:solidFill>
              </a:defRPr>
            </a:pPr>
            <a:r>
              <a:t>Agent Interaction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8BFD7"/>
                </a:solidFill>
              </a:defRPr>
            </a:pPr>
            <a:r>
              <a:t>Sequential workflow coordination and context passing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011680"/>
            <a:ext cx="1051560" cy="731520"/>
          </a:xfrm>
          <a:prstGeom prst="roundRect">
            <a:avLst/>
          </a:prstGeom>
          <a:solidFill>
            <a:srgbClr val="4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4904" y="2093976"/>
            <a:ext cx="9418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Business</a:t>
            </a:r>
            <a:br/>
            <a:r>
              <a:t>Information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2377440"/>
            <a:ext cx="182880" cy="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618488" y="2011680"/>
            <a:ext cx="1051560" cy="73152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3352" y="2093976"/>
            <a:ext cx="9418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Market</a:t>
            </a:r>
            <a:br/>
            <a:r>
              <a:t>Research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0048" y="2377440"/>
            <a:ext cx="182880" cy="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16936" y="2011680"/>
            <a:ext cx="1051560" cy="73152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093976"/>
            <a:ext cx="9418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Competitor</a:t>
            </a:r>
            <a:br/>
            <a:r>
              <a:t>Analysis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8496" y="2377440"/>
            <a:ext cx="182880" cy="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15383" y="2011680"/>
            <a:ext cx="1051560" cy="73152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7" y="2093976"/>
            <a:ext cx="9418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Campaign</a:t>
            </a:r>
            <a:br/>
            <a:r>
              <a:t>Planning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66944" y="2377440"/>
            <a:ext cx="182879" cy="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513831" y="2011680"/>
            <a:ext cx="1051560" cy="73152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8695" y="2093976"/>
            <a:ext cx="9418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Content</a:t>
            </a:r>
            <a:br/>
            <a:r>
              <a:t>Strategy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65392" y="2377440"/>
            <a:ext cx="182879" cy="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12279" y="2011680"/>
            <a:ext cx="1051560" cy="73152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67143" y="2093976"/>
            <a:ext cx="9418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Optimization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63840" y="2377440"/>
            <a:ext cx="182879" cy="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10727" y="2011680"/>
            <a:ext cx="1051560" cy="73152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2093976"/>
            <a:ext cx="9418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Marketing</a:t>
            </a:r>
            <a:br/>
            <a:r>
              <a:t>Manager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62288" y="2377440"/>
            <a:ext cx="182879" cy="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409176" y="2011680"/>
            <a:ext cx="1051560" cy="731520"/>
          </a:xfrm>
          <a:prstGeom prst="roundRect">
            <a:avLst/>
          </a:prstGeom>
          <a:solidFill>
            <a:srgbClr val="4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093976"/>
            <a:ext cx="9418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Final</a:t>
            </a:r>
            <a:br/>
            <a:r>
              <a:t>Strategy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460736" y="2377440"/>
            <a:ext cx="182879" cy="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707624" y="2011680"/>
            <a:ext cx="1051560" cy="731520"/>
          </a:xfrm>
          <a:prstGeom prst="roundRect">
            <a:avLst/>
          </a:prstGeom>
          <a:solidFill>
            <a:srgbClr val="4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62488" y="2093976"/>
            <a:ext cx="9418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Human</a:t>
            </a:r>
            <a:br/>
            <a:r>
              <a:t>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3794760"/>
            <a:ext cx="10561320" cy="1508760"/>
          </a:xfrm>
          <a:prstGeom prst="roundRect">
            <a:avLst/>
          </a:prstGeom>
          <a:solidFill>
            <a:srgbClr val="1F2444"/>
          </a:solidFill>
          <a:ln>
            <a:solidFill>
              <a:srgbClr val="363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0690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7FF"/>
                </a:solidFill>
              </a:defRPr>
            </a:pPr>
            <a:r>
              <a:t>How context moves through the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52628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FD7"/>
                </a:solidFill>
              </a:defRPr>
            </a:pPr>
            <a:r>
              <a:t>Each agent performs a focused marketing task. Relevant outputs from earlier stages are used as context for subsequent stages. The Marketing Manager consolidates the specialist outputs into the final strategy.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F"/>
                </a:solidFill>
              </a:defRPr>
            </a:pPr>
            <a:r>
              <a:t>Tools &amp; Technology Integration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10972800" cy="4983480"/>
          </a:xfrm>
          <a:prstGeom prst="roundRect">
            <a:avLst/>
          </a:prstGeom>
          <a:solidFill>
            <a:srgbClr val="1F2444"/>
          </a:solidFill>
          <a:ln>
            <a:solidFill>
              <a:srgbClr val="363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727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7FF"/>
                </a:solidFill>
              </a:defRPr>
            </a:pPr>
            <a:r>
              <a:t>Component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572768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7FF"/>
                </a:solidFill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782FF"/>
                </a:solidFill>
              </a:defRPr>
            </a:pPr>
            <a:r>
              <a:t>research.py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965960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BFD7"/>
                </a:solidFill>
              </a:defRPr>
            </a:pPr>
            <a:r>
              <a:t>Research-related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782FF"/>
                </a:solidFill>
              </a:defRPr>
            </a:pPr>
            <a:r>
              <a:t>budget.py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423160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BFD7"/>
                </a:solidFill>
              </a:defRPr>
            </a:pPr>
            <a:r>
              <a:t>Marketing budget calculations and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782FF"/>
                </a:solidFill>
              </a:defRPr>
            </a:pPr>
            <a:r>
              <a:t>memory.py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880360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BFD7"/>
                </a:solidFill>
              </a:defRPr>
            </a:pPr>
            <a:r>
              <a:t>Business/context storage and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782FF"/>
                </a:solidFill>
              </a:defRPr>
            </a:pPr>
            <a:r>
              <a:t>report.py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337560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BFD7"/>
                </a:solidFill>
              </a:defRPr>
            </a:pPr>
            <a:r>
              <a:t>Marketing report generation and saving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947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782FF"/>
                </a:solidFill>
              </a:defRPr>
            </a:pPr>
            <a:r>
              <a:t>analytics.py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794760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BFD7"/>
                </a:solidFill>
              </a:defRPr>
            </a:pPr>
            <a:r>
              <a:t>Campaign performance calculations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519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782FF"/>
                </a:solidFill>
              </a:defRPr>
            </a:pPr>
            <a:r>
              <a:t>memory.json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4251960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BFD7"/>
                </a:solidFill>
              </a:defRPr>
            </a:pPr>
            <a:r>
              <a:t>Persistent business/context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091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7FF"/>
                </a:solidFill>
              </a:defRPr>
            </a:pPr>
            <a: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4709160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BFD7"/>
                </a:solidFill>
              </a:defRPr>
            </a:pPr>
            <a:r>
              <a:t>Core programming language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663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7FF"/>
                </a:solidFill>
              </a:defRPr>
            </a:pPr>
            <a:r>
              <a:t>OpenAI Agents SDK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5166360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BFD7"/>
                </a:solidFill>
              </a:defRPr>
            </a:pPr>
            <a:r>
              <a:t>Agent implementation and workflow coordination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6235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7FF"/>
                </a:solidFill>
              </a:defRPr>
            </a:pPr>
            <a:r>
              <a:t>Gradio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5623560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BFD7"/>
                </a:solidFill>
              </a:defRPr>
            </a:pPr>
            <a:r>
              <a:t>Interactive web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F"/>
                </a:solidFill>
              </a:defRPr>
            </a:pPr>
            <a:r>
              <a:t>How the Application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8BFD7"/>
                </a:solidFill>
              </a:defRPr>
            </a:pPr>
            <a:r>
              <a:t>From business input to approved marketing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331720" cy="685800"/>
          </a:xfrm>
          <a:prstGeom prst="roundRect">
            <a:avLst/>
          </a:prstGeom>
          <a:solidFill>
            <a:srgbClr val="4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499616"/>
            <a:ext cx="222199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1. Enter business information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17320"/>
            <a:ext cx="2331720" cy="68580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83864" y="1499616"/>
            <a:ext cx="222199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2. Provide audience, budget &amp; goal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2331720" cy="68580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2783" y="1499616"/>
            <a:ext cx="222199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3. Specialized agents process 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39" y="1417320"/>
            <a:ext cx="2331720" cy="68580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61703" y="1499616"/>
            <a:ext cx="222199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4. Marketing Manager creates strategy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60320"/>
            <a:ext cx="2331720" cy="68580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642615"/>
            <a:ext cx="222199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5. Strategy displayed in Gradio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560320"/>
            <a:ext cx="2331720" cy="68580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3864" y="2642615"/>
            <a:ext cx="222199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6. User reviews strategy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560320"/>
            <a:ext cx="2331720" cy="68580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3" y="2642615"/>
            <a:ext cx="222199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7. Click Approve Strategy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39" y="2560320"/>
            <a:ext cx="2331720" cy="685800"/>
          </a:xfrm>
          <a:prstGeom prst="roundRect">
            <a:avLst/>
          </a:prstGeom>
          <a:solidFill>
            <a:srgbClr val="4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3" y="2642615"/>
            <a:ext cx="222199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8. Approved report is saved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69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7FF"/>
                </a:solidFill>
              </a:defRPr>
            </a:pPr>
            <a:r>
              <a:t>Example strategy sections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805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F5F7FF"/>
                </a:solidFill>
              </a:defRPr>
            </a:pPr>
            <a:r>
              <a:t>• Executive Summary • Target Audience • Customer Needs • Market Opportunities</a:t>
            </a:r>
          </a:p>
          <a:p>
            <a:pPr>
              <a:spcAft>
                <a:spcPts val="700"/>
              </a:spcAft>
              <a:defRPr sz="1100">
                <a:solidFill>
                  <a:srgbClr val="F5F7FF"/>
                </a:solidFill>
              </a:defRPr>
            </a:pPr>
            <a:r>
              <a:t>• Competitor Analysis • Brand Positioning • Campaign Objective</a:t>
            </a:r>
          </a:p>
          <a:p>
            <a:pPr>
              <a:spcAft>
                <a:spcPts val="700"/>
              </a:spcAft>
              <a:defRPr sz="1100">
                <a:solidFill>
                  <a:srgbClr val="F5F7FF"/>
                </a:solidFill>
              </a:defRPr>
            </a:pPr>
            <a:r>
              <a:t>• Marketing Channels • Budget Allocation • Content Strategy • KPIs • Optimization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703320"/>
            <a:ext cx="5540375" cy="2669540"/>
          </a:xfrm>
          <a:prstGeom prst="roundRect">
            <a:avLst/>
          </a:prstGeom>
          <a:blipFill rotWithShape="1">
            <a:blip r:embed="rId1"/>
            <a:stretch>
              <a:fillRect/>
            </a:stretch>
          </a:blipFill>
          <a:ln>
            <a:solidFill>
              <a:srgbClr val="363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800600"/>
            <a:ext cx="466344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8BFD7"/>
                </a:solidFill>
              </a:defRPr>
            </a:pPr>
            <a:r>
              <a:t>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F"/>
                </a:solidFill>
              </a:defRPr>
            </a:pPr>
            <a:r>
              <a:t>Human Approval &amp; Campaign Analytics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5394960" cy="4846320"/>
          </a:xfrm>
          <a:prstGeom prst="roundRect">
            <a:avLst/>
          </a:prstGeom>
          <a:solidFill>
            <a:srgbClr val="1F2444"/>
          </a:solidFill>
          <a:ln>
            <a:solidFill>
              <a:srgbClr val="363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394960" cy="4846320"/>
          </a:xfrm>
          <a:prstGeom prst="roundRect">
            <a:avLst/>
          </a:prstGeom>
          <a:solidFill>
            <a:srgbClr val="1F2444"/>
          </a:solidFill>
          <a:ln>
            <a:solidFill>
              <a:srgbClr val="363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7FF"/>
                </a:solidFill>
              </a:defRPr>
            </a:pPr>
            <a:r>
              <a:t>Human Approval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2148840"/>
            <a:ext cx="3977639" cy="502920"/>
          </a:xfrm>
          <a:prstGeom prst="roundRect">
            <a:avLst/>
          </a:prstGeom>
          <a:solidFill>
            <a:srgbClr val="4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9304" y="2231136"/>
            <a:ext cx="38679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AI Agents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18688" y="2651760"/>
            <a:ext cx="0" cy="18288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234440" y="2898648"/>
            <a:ext cx="3977639" cy="50292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9304" y="2980944"/>
            <a:ext cx="38679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Final Strategy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18688" y="3401568"/>
            <a:ext cx="0" cy="18288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34440" y="3648456"/>
            <a:ext cx="3977639" cy="50292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9304" y="3730752"/>
            <a:ext cx="38679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User Review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8688" y="4151376"/>
            <a:ext cx="0" cy="18288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234440" y="4398264"/>
            <a:ext cx="3977639" cy="50292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9304" y="4480559"/>
            <a:ext cx="38679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Approve Strategy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18688" y="4901183"/>
            <a:ext cx="0" cy="182881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234440" y="5148072"/>
            <a:ext cx="3977639" cy="502920"/>
          </a:xfrm>
          <a:prstGeom prst="roundRect">
            <a:avLst/>
          </a:prstGeom>
          <a:solidFill>
            <a:srgbClr val="4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9304" y="5230368"/>
            <a:ext cx="38679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Saved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7FF"/>
                </a:solidFill>
              </a:defRPr>
            </a:pPr>
            <a:r>
              <a:t>Campaign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057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8BFD7"/>
                </a:solidFill>
              </a:defRPr>
            </a:pPr>
            <a:r>
              <a:t>Inputs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2316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F5F7FF"/>
                </a:solidFill>
              </a:defRPr>
            </a:pPr>
            <a:r>
              <a:t>• Impressions</a:t>
            </a:r>
          </a:p>
          <a:p>
            <a:pPr>
              <a:spcAft>
                <a:spcPts val="700"/>
              </a:spcAft>
              <a:defRPr sz="1200">
                <a:solidFill>
                  <a:srgbClr val="F5F7FF"/>
                </a:solidFill>
              </a:defRPr>
            </a:pPr>
            <a:r>
              <a:t>• Clicks</a:t>
            </a:r>
          </a:p>
          <a:p>
            <a:pPr>
              <a:spcAft>
                <a:spcPts val="700"/>
              </a:spcAft>
              <a:defRPr sz="1200">
                <a:solidFill>
                  <a:srgbClr val="F5F7FF"/>
                </a:solidFill>
              </a:defRPr>
            </a:pPr>
            <a:r>
              <a:t>• Conversions</a:t>
            </a:r>
          </a:p>
          <a:p>
            <a:pPr>
              <a:spcAft>
                <a:spcPts val="700"/>
              </a:spcAft>
              <a:defRPr sz="1200">
                <a:solidFill>
                  <a:srgbClr val="F5F7FF"/>
                </a:solidFill>
              </a:defRPr>
            </a:pPr>
            <a:r>
              <a:t>• Ad Cost</a:t>
            </a:r>
          </a:p>
          <a:p>
            <a:pPr>
              <a:spcAft>
                <a:spcPts val="700"/>
              </a:spcAft>
              <a:defRPr sz="1200">
                <a:solidFill>
                  <a:srgbClr val="F5F7FF"/>
                </a:solidFill>
              </a:defRPr>
            </a:pPr>
            <a:r>
              <a:t>•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057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8BFD7"/>
                </a:solidFill>
              </a:defRPr>
            </a:pPr>
            <a:r>
              <a:t>Outputs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4231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F5F7FF"/>
                </a:solidFill>
              </a:defRPr>
            </a:pPr>
            <a:r>
              <a:t>• CTR</a:t>
            </a:r>
          </a:p>
          <a:p>
            <a:pPr>
              <a:spcAft>
                <a:spcPts val="700"/>
              </a:spcAft>
              <a:defRPr sz="1200">
                <a:solidFill>
                  <a:srgbClr val="F5F7FF"/>
                </a:solidFill>
              </a:defRPr>
            </a:pPr>
            <a:r>
              <a:t>• Conversion Rate</a:t>
            </a:r>
          </a:p>
          <a:p>
            <a:pPr>
              <a:spcAft>
                <a:spcPts val="700"/>
              </a:spcAft>
              <a:defRPr sz="1200">
                <a:solidFill>
                  <a:srgbClr val="F5F7FF"/>
                </a:solidFill>
              </a:defRPr>
            </a:pPr>
            <a:r>
              <a:t>• Cost / Conversion</a:t>
            </a:r>
          </a:p>
          <a:p>
            <a:pPr>
              <a:spcAft>
                <a:spcPts val="700"/>
              </a:spcAft>
              <a:defRPr sz="1200">
                <a:solidFill>
                  <a:srgbClr val="F5F7FF"/>
                </a:solidFill>
              </a:defRPr>
            </a:pPr>
            <a:r>
              <a:t>• ROAS</a:t>
            </a:r>
          </a:p>
          <a:p>
            <a:pPr>
              <a:spcAft>
                <a:spcPts val="700"/>
              </a:spcAft>
              <a:defRPr sz="1200">
                <a:solidFill>
                  <a:srgbClr val="F5F7FF"/>
                </a:solidFill>
              </a:defRPr>
            </a:pPr>
            <a:r>
              <a:t>• Performance Analysis</a:t>
            </a:r>
          </a:p>
          <a:p>
            <a:pPr>
              <a:spcAft>
                <a:spcPts val="700"/>
              </a:spcAft>
              <a:defRPr sz="1200">
                <a:solidFill>
                  <a:srgbClr val="F5F7FF"/>
                </a:solidFill>
              </a:defRPr>
            </a:pPr>
            <a:r>
              <a:t>• Recommendations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5166360"/>
            <a:ext cx="1417320" cy="548640"/>
          </a:xfrm>
          <a:prstGeom prst="roundRect">
            <a:avLst/>
          </a:prstGeom>
          <a:solidFill>
            <a:srgbClr val="4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84264" y="5248656"/>
            <a:ext cx="1307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Campaign Data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46720" y="5440680"/>
            <a:ext cx="365760" cy="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412480" y="5166360"/>
            <a:ext cx="1371600" cy="548640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67344" y="5248656"/>
            <a:ext cx="126187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Analytics Agent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784080" y="5440680"/>
            <a:ext cx="365760" cy="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149840" y="5166360"/>
            <a:ext cx="1097280" cy="548640"/>
          </a:xfrm>
          <a:prstGeom prst="roundRect">
            <a:avLst/>
          </a:prstGeom>
          <a:solidFill>
            <a:srgbClr val="4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04704" y="5248656"/>
            <a:ext cx="98755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F"/>
                </a:solidFill>
              </a:defRPr>
            </a:pPr>
            <a:r>
              <a:t>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F"/>
                </a:solidFill>
              </a:defRPr>
            </a:pPr>
            <a:r>
              <a:t>Project Results &amp;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5486400" cy="4480560"/>
          </a:xfrm>
          <a:prstGeom prst="roundRect">
            <a:avLst/>
          </a:prstGeom>
          <a:solidFill>
            <a:srgbClr val="1F2444"/>
          </a:solidFill>
          <a:ln>
            <a:solidFill>
              <a:srgbClr val="363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55080" y="1325880"/>
            <a:ext cx="5257800" cy="4480560"/>
          </a:xfrm>
          <a:prstGeom prst="roundRect">
            <a:avLst/>
          </a:prstGeom>
          <a:solidFill>
            <a:srgbClr val="1F2444"/>
          </a:solidFill>
          <a:ln>
            <a:solidFill>
              <a:srgbClr val="363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7FF"/>
                </a:solidFill>
              </a:defRPr>
            </a:pPr>
            <a:r>
              <a:t>Implemented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47548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42C284"/>
                </a:solidFill>
              </a:defRPr>
            </a:pPr>
            <a:r>
              <a:t>✓ Multiple specialized AI agents</a:t>
            </a:r>
          </a:p>
          <a:p>
            <a:pPr>
              <a:spcAft>
                <a:spcPts val="600"/>
              </a:spcAft>
              <a:defRPr sz="1300">
                <a:solidFill>
                  <a:srgbClr val="42C284"/>
                </a:solidFill>
              </a:defRPr>
            </a:pPr>
            <a:r>
              <a:t>✓ Market research &amp; competitor analysis</a:t>
            </a:r>
          </a:p>
          <a:p>
            <a:pPr>
              <a:spcAft>
                <a:spcPts val="600"/>
              </a:spcAft>
              <a:defRPr sz="1300">
                <a:solidFill>
                  <a:srgbClr val="42C284"/>
                </a:solidFill>
              </a:defRPr>
            </a:pPr>
            <a:r>
              <a:t>✓ Campaign planning &amp; content strategy</a:t>
            </a:r>
          </a:p>
          <a:p>
            <a:pPr>
              <a:spcAft>
                <a:spcPts val="600"/>
              </a:spcAft>
              <a:defRPr sz="1300">
                <a:solidFill>
                  <a:srgbClr val="42C284"/>
                </a:solidFill>
              </a:defRPr>
            </a:pPr>
            <a:r>
              <a:t>✓ Optimization recommendations</a:t>
            </a:r>
          </a:p>
          <a:p>
            <a:pPr>
              <a:spcAft>
                <a:spcPts val="600"/>
              </a:spcAft>
              <a:defRPr sz="1300">
                <a:solidFill>
                  <a:srgbClr val="42C284"/>
                </a:solidFill>
              </a:defRPr>
            </a:pPr>
            <a:r>
              <a:t>✓ Campaign analytics</a:t>
            </a:r>
          </a:p>
          <a:p>
            <a:pPr>
              <a:spcAft>
                <a:spcPts val="600"/>
              </a:spcAft>
              <a:defRPr sz="1300">
                <a:solidFill>
                  <a:srgbClr val="42C284"/>
                </a:solidFill>
              </a:defRPr>
            </a:pPr>
            <a:r>
              <a:t>✓ Memory/context management</a:t>
            </a:r>
          </a:p>
          <a:p>
            <a:pPr>
              <a:spcAft>
                <a:spcPts val="600"/>
              </a:spcAft>
              <a:defRPr sz="1300">
                <a:solidFill>
                  <a:srgbClr val="42C284"/>
                </a:solidFill>
              </a:defRPr>
            </a:pPr>
            <a:r>
              <a:t>✓ Structured outputs</a:t>
            </a:r>
          </a:p>
          <a:p>
            <a:pPr>
              <a:spcAft>
                <a:spcPts val="600"/>
              </a:spcAft>
              <a:defRPr sz="1300">
                <a:solidFill>
                  <a:srgbClr val="42C284"/>
                </a:solidFill>
              </a:defRPr>
            </a:pPr>
            <a:r>
              <a:t>✓ Human approval</a:t>
            </a:r>
          </a:p>
          <a:p>
            <a:pPr>
              <a:spcAft>
                <a:spcPts val="600"/>
              </a:spcAft>
              <a:defRPr sz="1300">
                <a:solidFill>
                  <a:srgbClr val="42C284"/>
                </a:solidFill>
              </a:defRPr>
            </a:pPr>
            <a:r>
              <a:t>✓ Gradio interface</a:t>
            </a:r>
          </a:p>
          <a:p>
            <a:pPr>
              <a:spcAft>
                <a:spcPts val="600"/>
              </a:spcAft>
              <a:defRPr sz="1300">
                <a:solidFill>
                  <a:srgbClr val="42C284"/>
                </a:solidFill>
              </a:defRPr>
            </a:pPr>
            <a:r>
              <a:t>✓ Report saving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16002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7FF"/>
                </a:solidFill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148840"/>
            <a:ext cx="4434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FD7"/>
                </a:solidFill>
              </a:defRPr>
            </a:pPr>
            <a:r>
              <a:t>The AI Marketing Strategy Manager demonstrates how specialized AI agents can work within a coordinated workflow to transform business information into a structured marketing strategy.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840480"/>
            <a:ext cx="4434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FD7"/>
                </a:solidFill>
              </a:defRPr>
            </a:pPr>
            <a:r>
              <a:t>The platform supports the process from business input and strategy generation to human approval and campaign performance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6080760"/>
            <a:ext cx="1828800" cy="475488"/>
          </a:xfrm>
          <a:prstGeom prst="roundRect">
            <a:avLst/>
          </a:prstGeom>
          <a:solidFill>
            <a:srgbClr val="4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6163056"/>
            <a:ext cx="171907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Business Input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34640" y="6318504"/>
            <a:ext cx="228600" cy="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46120" y="6080760"/>
            <a:ext cx="1828800" cy="475488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00984" y="6163056"/>
            <a:ext cx="171907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AI Marketing Agents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74920" y="6318504"/>
            <a:ext cx="228600" cy="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0" y="6080760"/>
            <a:ext cx="1828800" cy="475488"/>
          </a:xfrm>
          <a:prstGeom prst="roundRect">
            <a:avLst/>
          </a:prstGeom>
          <a:solidFill>
            <a:srgbClr val="4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41264" y="6163056"/>
            <a:ext cx="171907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Marketing Strategy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0" y="6318504"/>
            <a:ext cx="228600" cy="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26679" y="6080760"/>
            <a:ext cx="1828800" cy="475488"/>
          </a:xfrm>
          <a:prstGeom prst="roundRect">
            <a:avLst/>
          </a:prstGeom>
          <a:solidFill>
            <a:srgbClr val="8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81544" y="6163056"/>
            <a:ext cx="171907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Human Approval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55480" y="6318504"/>
            <a:ext cx="228600" cy="0"/>
          </a:xfrm>
          <a:prstGeom prst="line">
            <a:avLst/>
          </a:prstGeom>
          <a:ln w="19050">
            <a:solidFill>
              <a:srgbClr val="B8B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966959" y="6080760"/>
            <a:ext cx="1828800" cy="475488"/>
          </a:xfrm>
          <a:prstGeom prst="roundRect">
            <a:avLst/>
          </a:prstGeom>
          <a:solidFill>
            <a:srgbClr val="4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21824" y="6163056"/>
            <a:ext cx="171907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7FF"/>
                </a:solidFill>
              </a:defRPr>
            </a:pPr>
            <a:r>
              <a:t>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4378</Words>
  <Application>WPS Presentation</Application>
  <PresentationFormat>On-screen Show (4:3)</PresentationFormat>
  <Paragraphs>316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Karanjeet Singh</cp:lastModifiedBy>
  <cp:revision>3</cp:revision>
  <dcterms:created xsi:type="dcterms:W3CDTF">2013-01-27T09:14:00Z</dcterms:created>
  <dcterms:modified xsi:type="dcterms:W3CDTF">2026-08-04T10:04:20Z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139B041925EB45E8AF6E885B4041370E_13</vt:lpwstr>
  </property>
  <property fmtid="{D5CDD505-2E9C-101B-9397-08002B2CF9AE}" pid="3" name="KSOProductBuildVer">
    <vt:lpwstr>1033-12.1.0.28032</vt:lpwstr>
  </property>
</Properties>
</file>